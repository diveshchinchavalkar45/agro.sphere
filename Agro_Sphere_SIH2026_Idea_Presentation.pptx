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Problem Statement ID: </a:t>
            </a:r>
            <a:r>
              <a:rPr b="0" sz="1200">
                <a:solidFill>
                  <a:srgbClr val="2D2D2D"/>
                </a:solidFill>
              </a:rPr>
              <a:t>SIH1645 (Smart Agriculture &amp; Farm Connect)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Problem Statement Title: </a:t>
            </a:r>
            <a:r>
              <a:rPr b="0" sz="1200">
                <a:solidFill>
                  <a:srgbClr val="2D2D2D"/>
                </a:solidFill>
              </a:rPr>
              <a:t>AI Mandi Price Intelligence, Quality Grading &amp; Farm Logistics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Theme: </a:t>
            </a:r>
            <a:r>
              <a:rPr b="0" sz="1200">
                <a:solidFill>
                  <a:srgbClr val="2D2D2D"/>
                </a:solidFill>
              </a:rPr>
              <a:t>Agriculture, FoodTech &amp; Rural Development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PS Category: </a:t>
            </a:r>
            <a:r>
              <a:rPr b="0" sz="1200">
                <a:solidFill>
                  <a:srgbClr val="2D2D2D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Team ID: </a:t>
            </a:r>
            <a:r>
              <a:rPr b="0" sz="1200">
                <a:solidFill>
                  <a:srgbClr val="2D2D2D"/>
                </a:solidFill>
              </a:rPr>
              <a:t>SIH2026-TEAM-AGRO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Team Name: </a:t>
            </a:r>
            <a:r>
              <a:rPr b="0" sz="1200">
                <a:solidFill>
                  <a:srgbClr val="2D2D2D"/>
                </a:solidFill>
              </a:rPr>
              <a:t>Agro-Sphere Innovators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Project / Idea: </a:t>
            </a:r>
            <a:r>
              <a:rPr b="0" sz="1200">
                <a:solidFill>
                  <a:srgbClr val="2D2D2D"/>
                </a:solidFill>
              </a:rPr>
              <a:t>Agro-Sphere (Multilingual Farmer Intelligence Platform)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Live Prototype: </a:t>
            </a:r>
            <a:r>
              <a:rPr b="0" sz="1200">
                <a:solidFill>
                  <a:srgbClr val="2D2D2D"/>
                </a:solidFill>
              </a:rPr>
              <a:t>https://diveshchinchavalkar45.github.io/Agro.sphere/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31920"/>
            <a:ext cx="1463040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  <a:defRPr b="1" sz="1300">
                <a:solidFill>
                  <a:srgbClr val="173A25"/>
                </a:solidFill>
              </a:defRPr>
            </a:pPr>
            <a:r>
              <a:t>Agro-Sphere: Unified Farm Intelligence &amp; Direct Market Ecosystem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Transparent Mandi Discovery: Live modal rates across APMC mandis (Lasalgaon, Nashik, Pune) with predictive 7-day selling recommendations.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Verified Quality Grading &amp; Inspection: Standardized lot specs (moisture %, size 45-55mm, zero residue test, defect &lt;2%) for Grade A, B &amp; Premium produce.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Zero-Waste Fast Clearance: Emergency fast-sale channel for perishable surplus fruits/vegetables to eliminate post-harvest crop rotting.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FPO Collective Pooling: Aggregates small farmer harvests into 100q+ bulk lots to secure institutional buyer pricing &amp; reduce freight.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End-to-End Live Logistics: Real-time truck tracking (MH-15), driver contact dispatch, weighbridge slot booking, and digital calendar milestones.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Multilingual Voice AI Sahayak: Voice-operated in Hindi, Marathi &amp; English for non-literate farmers with 24x7 Toll-Free Helpline (1800-889-2476).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products_modal_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2743200" cy="1765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Aft>
                <a:spcPts val="250"/>
              </a:spcAft>
              <a:defRPr b="1" sz="1300">
                <a:solidFill>
                  <a:srgbClr val="173A25"/>
                </a:solidFill>
              </a:defRPr>
            </a:pPr>
            <a:r>
              <a:t>Technical Architecture &amp; Execution Methodology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Modern Web &amp; Mobile Stack: Responsive Glassmorphism architecture, CSS Grid/Flexbox, dynamic modular section routing.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Voice AI Engine: Web Speech API (STT &amp; TTS) + Vapi.ai Telephony Integration supporting Hindi, Marathi, and Indian English.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Logistics &amp; Scheduling Engine: Real-time route progression, live GPS coordinate simulator, and dynamic monthly milestone calendar.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Multilingual I18n System: Real-time DOM dictionary translation across 12 Indian regional languages.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Security &amp; Settlement: PIN-verified weighbridge authorization and instant ledger balance tracking.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4389120" cy="1755648"/>
          </a:xfrm>
          <a:prstGeom prst="rect">
            <a:avLst/>
          </a:prstGeom>
        </p:spPr>
      </p:pic>
      <p:pic>
        <p:nvPicPr>
          <p:cNvPr id="17412" name="Picture 17411" descr="schedule_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840480"/>
            <a:ext cx="3566160" cy="22949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b="1" sz="1300">
                <a:solidFill>
                  <a:srgbClr val="173A25"/>
                </a:solidFill>
              </a:defRPr>
            </a:pPr>
            <a:r>
              <a:t>Feasibility, Risk Analysis &amp; Mitigation Strategies</a:t>
            </a:r>
          </a:p>
          <a:p>
            <a:pPr>
              <a:spcAft>
                <a:spcPts val="200"/>
              </a:spcAft>
              <a:defRPr b="0" sz="1050">
                <a:solidFill>
                  <a:srgbClr val="282828"/>
                </a:solidFill>
              </a:defRPr>
            </a:pPr>
            <a:r>
              <a:t>• Technical Feasibility: Lightweight client architecture works on low-bandwidth 2G/3G rural networks with offline resilience.</a:t>
            </a:r>
          </a:p>
          <a:p>
            <a:pPr>
              <a:spcAft>
                <a:spcPts val="200"/>
              </a:spcAft>
              <a:defRPr b="0" sz="1050">
                <a:solidFill>
                  <a:srgbClr val="282828"/>
                </a:solidFill>
              </a:defRPr>
            </a:pPr>
            <a:r>
              <a:t>• Operational Feasibility: Multi-channel support (24x7 Toll-Free 1800-889-2476, WhatsApp Photo Grading +91 98200 45678, on-ground APMC officers).</a:t>
            </a:r>
          </a:p>
          <a:p>
            <a:pPr>
              <a:spcAft>
                <a:spcPts val="200"/>
              </a:spcAft>
              <a:defRPr b="0" sz="1050">
                <a:solidFill>
                  <a:srgbClr val="282828"/>
                </a:solidFill>
              </a:defRPr>
            </a:pPr>
            <a:r>
              <a:t>• Financial Viability: Disintermediates exploitative middlemen (saving 15-20% margin for farmers); self-sustainable via minimal 0.5% buyer transaction fee.</a:t>
            </a:r>
          </a:p>
          <a:p>
            <a:pPr>
              <a:spcAft>
                <a:spcPts val="200"/>
              </a:spcAft>
              <a:defRPr b="0" sz="1050">
                <a:solidFill>
                  <a:srgbClr val="B42828"/>
                </a:solidFill>
              </a:defRPr>
            </a:pPr>
            <a:r>
              <a:t>• Challenge: Low Digital Literacy among elderly farmers.</a:t>
            </a:r>
          </a:p>
          <a:p>
            <a:pPr>
              <a:spcAft>
                <a:spcPts val="200"/>
              </a:spcAft>
              <a:defRPr b="0" sz="1050">
                <a:solidFill>
                  <a:srgbClr val="173A25"/>
                </a:solidFill>
              </a:defRPr>
            </a:pPr>
            <a:r>
              <a:t>  ↳ Mitigation: Multilingual AI Voice Sahayak with one-touch voice chips and natural speech queries.</a:t>
            </a:r>
          </a:p>
          <a:p>
            <a:pPr>
              <a:spcAft>
                <a:spcPts val="200"/>
              </a:spcAft>
              <a:defRPr b="0" sz="1050">
                <a:solidFill>
                  <a:srgbClr val="B42828"/>
                </a:solidFill>
              </a:defRPr>
            </a:pPr>
            <a:r>
              <a:t>• Challenge: Weight &amp; Quality Disputes at Mandi Yard.</a:t>
            </a:r>
          </a:p>
          <a:p>
            <a:pPr>
              <a:spcAft>
                <a:spcPts val="200"/>
              </a:spcAft>
              <a:defRPr b="0" sz="1050">
                <a:solidFill>
                  <a:srgbClr val="173A25"/>
                </a:solidFill>
              </a:defRPr>
            </a:pPr>
            <a:r>
              <a:t>  ↳ Mitigation: Digital weighbridge PIN verification receipt and local field officer dispute desk.</a:t>
            </a:r>
          </a:p>
          <a:p>
            <a:pPr>
              <a:spcAft>
                <a:spcPts val="200"/>
              </a:spcAft>
              <a:defRPr b="0" sz="1050">
                <a:solidFill>
                  <a:srgbClr val="B42828"/>
                </a:solidFill>
              </a:defRPr>
            </a:pPr>
            <a:r>
              <a:t>• Challenge: Spoilage of Perishable Produce.</a:t>
            </a:r>
          </a:p>
          <a:p>
            <a:pPr>
              <a:spcAft>
                <a:spcPts val="200"/>
              </a:spcAft>
              <a:defRPr b="0" sz="1050">
                <a:solidFill>
                  <a:srgbClr val="173A25"/>
                </a:solidFill>
              </a:defRPr>
            </a:pPr>
            <a:r>
              <a:t>  ↳ Mitigation: Priority Zero-Waste Fast Clearance tag and instant buyer flash-sale notifications.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Aft>
                <a:spcPts val="250"/>
              </a:spcAft>
              <a:defRPr b="1" sz="1300">
                <a:solidFill>
                  <a:srgbClr val="173A25"/>
                </a:solidFill>
              </a:defRPr>
            </a:pPr>
            <a:r>
              <a:t>Measurable Impact &amp; Multi-Dimensional Benefits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Economic Empowerment (+18% to +25% Income): Direct market access eliminates local trader cartels, delivering higher net realized price.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Zero Post-Harvest Food Wastage: Urgent clearance sell feature cuts agricultural perishable dumping by over 30%.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Farmer Collectives &amp; FPO Growth: Collective pooling aggregates smallholder output, granting small farmers enterprise bargaining power.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Supply Chain Efficiency: Guaranteed transport dispatch timelines eliminate dead freight and multi-day mandi yard waiting times.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Financial Security &amp; Escrow Trust: Instant digital bank settlement upon weighbridge slip verification prevents payment defaults.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Inclusive Accessibility: Voice-first multi-lingual interface bridges the digital divide for every Indian kisan.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dashboard_bottom_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011680"/>
            <a:ext cx="3200400" cy="28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  <a:defRPr b="1" sz="1300">
                <a:solidFill>
                  <a:srgbClr val="173A25"/>
                </a:solidFill>
              </a:defRPr>
            </a:pPr>
            <a:r>
              <a:t>Research Grounding, Live Deployment &amp; References</a:t>
            </a:r>
          </a:p>
          <a:p>
            <a:pPr>
              <a:spcAft>
                <a:spcPts val="300"/>
              </a:spcAft>
              <a:defRPr b="1" sz="1050">
                <a:solidFill>
                  <a:srgbClr val="217346"/>
                </a:solidFill>
              </a:defRPr>
            </a:pPr>
            <a:r>
              <a:t>• Live Deployed Web Prototype: https://diveshchinchavalkar45.github.io/Agro.sphere/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Open Source Codebase: https://github.com/diveshchinchavalkar45/Agro.sphere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Government Data Reference: Agmarknet (Directorate of Marketing &amp; Inspection, Ministry of Agriculture &amp; Farmers Welfare).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Post-Harvest Loss Research: NITI Aayog Strategy for Doubling Farmers Income &amp; Central Institute of Post-Harvest Engineering (CIPHET).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Quality &amp; Grading Standards: Bureau of Indian Standards (BIS) &amp; APEDA Export Produce Specifications for Fruits &amp; Vegetables.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Voice AI Technology: Deepgram Multilingual Speech Recognition &amp; Vapi.ai Telephony Voice Pipelines.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rices_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926080"/>
            <a:ext cx="3474720" cy="223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